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4" r:id="rId18"/>
    <p:sldId id="271" r:id="rId19"/>
    <p:sldId id="272" r:id="rId20"/>
    <p:sldId id="273" r:id="rId21"/>
  </p:sldIdLst>
  <p:sldSz cx="9144000" cy="5143500"/>
  <p:notesSz cx="6858000" cy="9144000"/>
  <p:embeddedFontLst>
    <p:embeddedFont>
      <p:font typeface="Lato" panose="020F0502020204030203"/>
      <p:regular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0B902C-D26E-4EDE-AF04-9CB874445466}" styleName="Table_0">
    <a:wholeTbl>
      <a:tcTxStyle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 cmpd="sng">
              <a:solidFill>
                <a:srgbClr val="0F9ED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F9ED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F9ED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F9ED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F9ED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F9ED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FF7"/>
          </a:solidFill>
        </a:fill>
      </a:tcStyle>
    </a:wholeTbl>
    <a:band1H>
      <a:tcStyle>
        <a:tcBdr/>
        <a:fill>
          <a:solidFill>
            <a:srgbClr val="CADEEF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DEEF"/>
          </a:solidFill>
        </a:fill>
      </a:tcStyle>
    </a:band1V>
    <a:band2V>
      <a:tcStyle>
        <a:tcBdr/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ap="flat" cmpd="sng">
              <a:solidFill>
                <a:srgbClr val="0F9ED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FF7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/>
      <a:tcStyle>
        <a:tcBdr/>
        <a:fill>
          <a:solidFill>
            <a:srgbClr val="E6EFF7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font" Target="fonts/font1.fntdata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/Users/sanikadhawale/Downloads/sanikaZOMATOFINAL_zomato_dataset_(2)(1)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/Users/sanikadhawale/Downloads/sanikaZOMATOFINAL_zomato_dataset_(2)(1)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/Users/sanikadhawale/Downloads/sanikaZOMATOFINAL_zomato_dataset_(2)(1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[sanikaZOMATOFINAL_zomato_dataset_(2)(1).xlsx]Data Analysing sheet!Data Analysing sheet</c:name>
    <c:fmtId val="-1"/>
  </c:pivotSource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>
                <a:solidFill>
                  <a:schemeClr val="lt1"/>
                </a:solidFill>
                <a:latin typeface="+mn-lt"/>
                <a:ea typeface="+mn-ea"/>
                <a:cs typeface="+mn-cs"/>
              </a:rPr>
              <a:t>COUNT OF RESTAURANT IN COUNTRY</a:t>
            </a:r>
            <a:endParaRPr>
              <a:solidFill>
                <a:schemeClr val="lt1"/>
              </a:solidFill>
              <a:latin typeface="+mn-lt"/>
              <a:ea typeface="+mn-ea"/>
              <a:cs typeface="+mn-cs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03453440466258"/>
          <c:y val="0.165975378705579"/>
          <c:w val="0.7268944552774"/>
          <c:h val="0.44139623510598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'[sanikaZOMATOFINAL_zomato_dataset_(2)(1).xlsx]Data Analysing sheet'!$C$2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'[sanikaZOMATOFINAL_zomato_dataset_(2)(1).xlsx]Data Analysing sheet'!$A$3:$B$18</c:f>
              <c:multiLvlStrCache>
                <c:ptCount val="15"/>
                <c:lvl>
                  <c:pt idx="0">
                    <c:v>Australia</c:v>
                  </c:pt>
                  <c:pt idx="1">
                    <c:v>Brazil</c:v>
                  </c:pt>
                  <c:pt idx="2">
                    <c:v>Canada</c:v>
                  </c:pt>
                  <c:pt idx="3">
                    <c:v>India</c:v>
                  </c:pt>
                  <c:pt idx="4">
                    <c:v>Indonesia</c:v>
                  </c:pt>
                  <c:pt idx="5">
                    <c:v>New Zealand</c:v>
                  </c:pt>
                  <c:pt idx="6">
                    <c:v>Philippines</c:v>
                  </c:pt>
                  <c:pt idx="7">
                    <c:v>Qatar</c:v>
                  </c:pt>
                  <c:pt idx="8">
                    <c:v>Singapore</c:v>
                  </c:pt>
                  <c:pt idx="9">
                    <c:v>South Africa</c:v>
                  </c:pt>
                  <c:pt idx="10">
                    <c:v>Sri Lanka</c:v>
                  </c:pt>
                  <c:pt idx="11">
                    <c:v>Turkey</c:v>
                  </c:pt>
                  <c:pt idx="12">
                    <c:v>United Arab Emirates</c:v>
                  </c:pt>
                  <c:pt idx="13">
                    <c:v>United Kingdom</c:v>
                  </c:pt>
                  <c:pt idx="14">
                    <c:v>United States of America</c:v>
                  </c:pt>
                </c:lvl>
                <c:lvl>
                  <c:pt idx="0">
                    <c:v>GROUP1</c:v>
                  </c:pt>
                </c:lvl>
              </c:multiLvlStrCache>
            </c:multiLvlStrRef>
          </c:cat>
          <c:val>
            <c:numRef>
              <c:f>'[sanikaZOMATOFINAL_zomato_dataset_(2)(1).xlsx]Data Analysing sheet'!$C$3:$C$18</c:f>
              <c:numCache>
                <c:formatCode>General</c:formatCode>
                <c:ptCount val="15"/>
                <c:pt idx="0">
                  <c:v>24</c:v>
                </c:pt>
                <c:pt idx="1">
                  <c:v>60</c:v>
                </c:pt>
                <c:pt idx="2">
                  <c:v>4</c:v>
                </c:pt>
                <c:pt idx="3">
                  <c:v>8652</c:v>
                </c:pt>
                <c:pt idx="4">
                  <c:v>21</c:v>
                </c:pt>
                <c:pt idx="5">
                  <c:v>40</c:v>
                </c:pt>
                <c:pt idx="6">
                  <c:v>22</c:v>
                </c:pt>
                <c:pt idx="7">
                  <c:v>20</c:v>
                </c:pt>
                <c:pt idx="8">
                  <c:v>20</c:v>
                </c:pt>
                <c:pt idx="9">
                  <c:v>60</c:v>
                </c:pt>
                <c:pt idx="10">
                  <c:v>20</c:v>
                </c:pt>
                <c:pt idx="11">
                  <c:v>34</c:v>
                </c:pt>
                <c:pt idx="12">
                  <c:v>60</c:v>
                </c:pt>
                <c:pt idx="13">
                  <c:v>80</c:v>
                </c:pt>
                <c:pt idx="14">
                  <c:v>434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300345408"/>
        <c:axId val="231696000"/>
      </c:barChart>
      <c:catAx>
        <c:axId val="300345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</a:p>
        </c:txPr>
        <c:crossAx val="231696000"/>
        <c:crosses val="autoZero"/>
        <c:auto val="1"/>
        <c:lblAlgn val="ctr"/>
        <c:lblOffset val="100"/>
        <c:noMultiLvlLbl val="0"/>
      </c:catAx>
      <c:valAx>
        <c:axId val="2316960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</a:p>
        </c:txPr>
        <c:crossAx val="3003454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6815731-c665-49c6-9757-1dfc8c7e6315}"/>
      </c:ext>
    </c:extLst>
  </c:chart>
  <c:spPr>
    <a:solidFill>
      <a:prstClr val="black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  <a:sp3d>
      <a:extrusionClr>
        <a:srgbClr val="FFFFFF"/>
      </a:extrusionClr>
      <a:contourClr>
        <a:srgbClr val="FFFFFF"/>
      </a:contourClr>
    </a:sp3d>
  </c:spPr>
  <c:txPr>
    <a:bodyPr/>
    <a:lstStyle/>
    <a:p>
      <a:pPr>
        <a:defRPr lang="en-US">
          <a:solidFill>
            <a:schemeClr val="lt1"/>
          </a:solidFill>
          <a:latin typeface="+mn-lt"/>
          <a:ea typeface="+mn-ea"/>
          <a:cs typeface="+mn-cs"/>
        </a:defRPr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[sanikaZOMATOFINAL_zomato_dataset_(2)(1).xlsx]Data Analysing sheet!Data Analysing sheet 3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AVERAGE VOTERS PER COUNTRY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'[sanikaZOMATOFINAL_zomato_dataset_(2)(1).xlsx]Data Analysing sheet'!$K$2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multiLvlStrRef>
              <c:f>'[sanikaZOMATOFINAL_zomato_dataset_(2)(1).xlsx]Data Analysing sheet'!$I$3:$J$18</c:f>
              <c:multiLvlStrCache>
                <c:ptCount val="15"/>
                <c:lvl>
                  <c:pt idx="0">
                    <c:v>Australia</c:v>
                  </c:pt>
                  <c:pt idx="1">
                    <c:v>Brazil</c:v>
                  </c:pt>
                  <c:pt idx="2">
                    <c:v>Canada</c:v>
                  </c:pt>
                  <c:pt idx="3">
                    <c:v>India</c:v>
                  </c:pt>
                  <c:pt idx="4">
                    <c:v>Indonesia</c:v>
                  </c:pt>
                  <c:pt idx="5">
                    <c:v>New Zealand</c:v>
                  </c:pt>
                  <c:pt idx="6">
                    <c:v>Philippines</c:v>
                  </c:pt>
                  <c:pt idx="7">
                    <c:v>Qatar</c:v>
                  </c:pt>
                  <c:pt idx="8">
                    <c:v>Singapore</c:v>
                  </c:pt>
                  <c:pt idx="9">
                    <c:v>South Africa</c:v>
                  </c:pt>
                  <c:pt idx="10">
                    <c:v>Sri Lanka</c:v>
                  </c:pt>
                  <c:pt idx="11">
                    <c:v>Turkey</c:v>
                  </c:pt>
                  <c:pt idx="12">
                    <c:v>United Arab Emirates</c:v>
                  </c:pt>
                  <c:pt idx="13">
                    <c:v>United Kingdom</c:v>
                  </c:pt>
                  <c:pt idx="14">
                    <c:v>United States of America</c:v>
                  </c:pt>
                </c:lvl>
                <c:lvl>
                  <c:pt idx="0">
                    <c:v>GROUP1</c:v>
                  </c:pt>
                </c:lvl>
              </c:multiLvlStrCache>
            </c:multiLvlStrRef>
          </c:cat>
          <c:val>
            <c:numRef>
              <c:f>'[sanikaZOMATOFINAL_zomato_dataset_(2)(1).xlsx]Data Analysing sheet'!$K$3:$K$18</c:f>
              <c:numCache>
                <c:formatCode>General</c:formatCode>
                <c:ptCount val="15"/>
                <c:pt idx="0">
                  <c:v>111.416666666667</c:v>
                </c:pt>
                <c:pt idx="1">
                  <c:v>19.6166666666667</c:v>
                </c:pt>
                <c:pt idx="2">
                  <c:v>103</c:v>
                </c:pt>
                <c:pt idx="3">
                  <c:v>137.212552011096</c:v>
                </c:pt>
                <c:pt idx="4">
                  <c:v>772.095238095238</c:v>
                </c:pt>
                <c:pt idx="5">
                  <c:v>243.025</c:v>
                </c:pt>
                <c:pt idx="6">
                  <c:v>407.409090909091</c:v>
                </c:pt>
                <c:pt idx="7">
                  <c:v>163.8</c:v>
                </c:pt>
                <c:pt idx="8">
                  <c:v>31.9</c:v>
                </c:pt>
                <c:pt idx="9">
                  <c:v>315.166666666667</c:v>
                </c:pt>
                <c:pt idx="10">
                  <c:v>146.45</c:v>
                </c:pt>
                <c:pt idx="11">
                  <c:v>431.470588235294</c:v>
                </c:pt>
                <c:pt idx="12">
                  <c:v>493.516666666667</c:v>
                </c:pt>
                <c:pt idx="13">
                  <c:v>205.4875</c:v>
                </c:pt>
                <c:pt idx="14">
                  <c:v>428.221198156682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325921728"/>
        <c:axId val="325923520"/>
      </c:barChart>
      <c:catAx>
        <c:axId val="325921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25923520"/>
        <c:crosses val="autoZero"/>
        <c:auto val="1"/>
        <c:lblAlgn val="ctr"/>
        <c:lblOffset val="100"/>
        <c:noMultiLvlLbl val="0"/>
      </c:catAx>
      <c:valAx>
        <c:axId val="3259235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25921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f6397ed-3215-4b10-affe-90fabe3206bd}"/>
      </c:ext>
    </c:extLst>
  </c:chart>
  <c:spPr>
    <a:solidFill>
      <a:schemeClr val="tx1"/>
    </a:solidFill>
    <a:ln>
      <a:solidFill>
        <a:schemeClr val="accent1"/>
      </a:solidFill>
    </a:ln>
    <a:effectLst/>
  </c:spPr>
  <c:txPr>
    <a:bodyPr/>
    <a:lstStyle/>
    <a:p>
      <a:pPr>
        <a:defRPr lang="en-US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[sanikaZOMATOFINAL_zomato_dataset_(2)(1).xlsx]Data Analysing sheet!Data Analysing sheet 2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1400"/>
              <a:t>NO. RESTAURANTS OPENED EACH YEAR</a:t>
            </a:r>
            <a:endParaRPr lang="en-US" sz="140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804084123028748"/>
          <c:y val="0.153059717972571"/>
          <c:w val="0.753994027287768"/>
          <c:h val="0.75081310756291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'[sanikaZOMATOFINAL_zomato_dataset_(2)(1).xlsx]Data Analysing sheet'!$E$2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'[sanikaZOMATOFINAL_zomato_dataset_(2)(1).xlsx]Data Analysing sheet'!$D$3:$D$12</c:f>
              <c:strCache>
                <c:ptCount val="9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</c:strCache>
            </c:strRef>
          </c:cat>
          <c:val>
            <c:numRef>
              <c:f>'[sanikaZOMATOFINAL_zomato_dataset_(2)(1).xlsx]Data Analysing sheet'!$E$3:$E$12</c:f>
              <c:numCache>
                <c:formatCode>General</c:formatCode>
                <c:ptCount val="9"/>
                <c:pt idx="0">
                  <c:v>1080</c:v>
                </c:pt>
                <c:pt idx="1">
                  <c:v>1098</c:v>
                </c:pt>
                <c:pt idx="2">
                  <c:v>1022</c:v>
                </c:pt>
                <c:pt idx="3">
                  <c:v>1061</c:v>
                </c:pt>
                <c:pt idx="4">
                  <c:v>1051</c:v>
                </c:pt>
                <c:pt idx="5">
                  <c:v>1024</c:v>
                </c:pt>
                <c:pt idx="6">
                  <c:v>1027</c:v>
                </c:pt>
                <c:pt idx="7">
                  <c:v>1086</c:v>
                </c:pt>
                <c:pt idx="8">
                  <c:v>1102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303367040"/>
        <c:axId val="303372416"/>
      </c:barChart>
      <c:catAx>
        <c:axId val="3033670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03372416"/>
        <c:crosses val="autoZero"/>
        <c:auto val="1"/>
        <c:lblAlgn val="ctr"/>
        <c:lblOffset val="100"/>
        <c:noMultiLvlLbl val="0"/>
      </c:catAx>
      <c:valAx>
        <c:axId val="303372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033670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c068bd1-967f-496c-aa77-b40b95bf5a4c}"/>
      </c:ext>
    </c:extLst>
  </c:chart>
  <c:spPr>
    <a:solidFill>
      <a:schemeClr val="tx1"/>
    </a:solidFill>
    <a:ln>
      <a:solidFill>
        <a:schemeClr val="accent1"/>
      </a:solidFill>
    </a:ln>
    <a:effectLst/>
  </c:spPr>
  <c:txPr>
    <a:bodyPr/>
    <a:lstStyle/>
    <a:p>
      <a:pPr>
        <a:defRPr lang="en-US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b6e91aa64b_1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2b6e91aa64b_1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6864134713_1_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26864134713_1_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 panose="020B0604020202090204"/>
              <a:buChar char="●"/>
              <a:defRPr sz="5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 panose="020B0604020202090204"/>
              <a:buChar char="○"/>
              <a:defRPr sz="5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 panose="020B0604020202090204"/>
              <a:buChar char="■"/>
              <a:defRPr sz="5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 panose="020B0604020202090204"/>
              <a:buChar char="●"/>
              <a:defRPr sz="5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 panose="020B0604020202090204"/>
              <a:buChar char="○"/>
              <a:defRPr sz="5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 panose="020B0604020202090204"/>
              <a:buChar char="■"/>
              <a:defRPr sz="5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 panose="020B0604020202090204"/>
              <a:buChar char="●"/>
              <a:defRPr sz="5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 panose="020B0604020202090204"/>
              <a:buChar char="○"/>
              <a:defRPr sz="5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 panose="020B0604020202090204"/>
              <a:buChar char="■"/>
              <a:defRPr sz="5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1" name="Google Shape;11;p2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90204"/>
              <a:buChar char="●"/>
              <a:defRPr sz="36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90204"/>
              <a:buChar char="○"/>
              <a:defRPr sz="36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90204"/>
              <a:buChar char="■"/>
              <a:defRPr sz="36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90204"/>
              <a:buChar char="●"/>
              <a:defRPr sz="36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90204"/>
              <a:buChar char="○"/>
              <a:defRPr sz="36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90204"/>
              <a:buChar char="■"/>
              <a:defRPr sz="36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90204"/>
              <a:buChar char="●"/>
              <a:defRPr sz="36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90204"/>
              <a:buChar char="○"/>
              <a:defRPr sz="36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90204"/>
              <a:buChar char="■"/>
              <a:defRPr sz="36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6" name="Google Shape;16;p2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9" name="Google Shape;19;p23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20" name="Google Shape;20;p2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23" name="Google Shape;23;p24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○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■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●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○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■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●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○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■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○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■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●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○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■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●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○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■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25" name="Google Shape;25;p2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28" name="Google Shape;28;p2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90204"/>
              <a:buChar char="●"/>
              <a:def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90204"/>
              <a:buChar char="○"/>
              <a:def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90204"/>
              <a:buChar char="■"/>
              <a:def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90204"/>
              <a:buChar char="●"/>
              <a:def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90204"/>
              <a:buChar char="○"/>
              <a:def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90204"/>
              <a:buChar char="■"/>
              <a:def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90204"/>
              <a:buChar char="●"/>
              <a:def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90204"/>
              <a:buChar char="○"/>
              <a:def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90204"/>
              <a:buChar char="■"/>
              <a:def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31" name="Google Shape;31;p26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●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○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■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●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○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■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●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○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Char char="■"/>
              <a:defRPr sz="1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32" name="Google Shape;32;p2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 panose="020B0604020202090204"/>
              <a:buChar char="●"/>
              <a:defRPr sz="4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 panose="020B0604020202090204"/>
              <a:buChar char="○"/>
              <a:defRPr sz="4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 panose="020B0604020202090204"/>
              <a:buChar char="■"/>
              <a:defRPr sz="4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 panose="020B0604020202090204"/>
              <a:buChar char="●"/>
              <a:defRPr sz="4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 panose="020B0604020202090204"/>
              <a:buChar char="○"/>
              <a:defRPr sz="4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 panose="020B0604020202090204"/>
              <a:buChar char="■"/>
              <a:defRPr sz="4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 panose="020B0604020202090204"/>
              <a:buChar char="●"/>
              <a:defRPr sz="4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 panose="020B0604020202090204"/>
              <a:buChar char="○"/>
              <a:defRPr sz="4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 panose="020B0604020202090204"/>
              <a:buChar char="■"/>
              <a:defRPr sz="4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35" name="Google Shape;35;p2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8" name="Google Shape;38;p2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 panose="020B0604020202090204"/>
              <a:buChar char="●"/>
              <a:defRPr sz="4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 panose="020B0604020202090204"/>
              <a:buChar char="○"/>
              <a:defRPr sz="4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 panose="020B0604020202090204"/>
              <a:buChar char="■"/>
              <a:defRPr sz="4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 panose="020B0604020202090204"/>
              <a:buChar char="●"/>
              <a:defRPr sz="4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 panose="020B0604020202090204"/>
              <a:buChar char="○"/>
              <a:defRPr sz="4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 panose="020B0604020202090204"/>
              <a:buChar char="■"/>
              <a:defRPr sz="4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 panose="020B0604020202090204"/>
              <a:buChar char="●"/>
              <a:defRPr sz="4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 panose="020B0604020202090204"/>
              <a:buChar char="○"/>
              <a:defRPr sz="4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 panose="020B0604020202090204"/>
              <a:buChar char="■"/>
              <a:defRPr sz="42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39" name="Google Shape;39;p28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90204"/>
              <a:buNone/>
              <a:defRPr sz="2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90204"/>
              <a:buNone/>
              <a:defRPr sz="2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90204"/>
              <a:buNone/>
              <a:defRPr sz="2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90204"/>
              <a:buNone/>
              <a:defRPr sz="2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90204"/>
              <a:buNone/>
              <a:defRPr sz="2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90204"/>
              <a:buNone/>
              <a:defRPr sz="2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90204"/>
              <a:buNone/>
              <a:defRPr sz="2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90204"/>
              <a:buNone/>
              <a:defRPr sz="2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90204"/>
              <a:buNone/>
              <a:defRPr sz="2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40" name="Google Shape;40;p28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41" name="Google Shape;41;p2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9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</a:lstStyle>
          <a:p/>
        </p:txBody>
      </p:sp>
      <p:sp>
        <p:nvSpPr>
          <p:cNvPr id="44" name="Google Shape;44;p2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0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 panose="020B0604020202090204"/>
              <a:buChar char="●"/>
              <a:defRPr sz="1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 panose="020B0604020202090204"/>
              <a:buChar char="○"/>
              <a:defRPr sz="1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 panose="020B0604020202090204"/>
              <a:buChar char="■"/>
              <a:defRPr sz="1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 panose="020B0604020202090204"/>
              <a:buChar char="●"/>
              <a:defRPr sz="1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 panose="020B0604020202090204"/>
              <a:buChar char="○"/>
              <a:defRPr sz="1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 panose="020B0604020202090204"/>
              <a:buChar char="■"/>
              <a:defRPr sz="1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 panose="020B0604020202090204"/>
              <a:buChar char="●"/>
              <a:defRPr sz="1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 panose="020B0604020202090204"/>
              <a:buChar char="○"/>
              <a:defRPr sz="1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 panose="020B0604020202090204"/>
              <a:buChar char="■"/>
              <a:defRPr sz="1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r>
              <a:t>xx%</a:t>
            </a:r>
          </a:p>
        </p:txBody>
      </p:sp>
      <p:sp>
        <p:nvSpPr>
          <p:cNvPr id="47" name="Google Shape;47;p30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48" name="Google Shape;48;p3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7" name="Google Shape;7;p19"/>
          <p:cNvPicPr preferRelativeResize="0"/>
          <p:nvPr/>
        </p:nvPicPr>
        <p:blipFill rotWithShape="1">
          <a:blip r:embed="rId12"/>
          <a:srcRect r="8239" b="22214"/>
          <a:stretch>
            <a:fillRect/>
          </a:stretch>
        </p:blipFill>
        <p:spPr>
          <a:xfrm>
            <a:off x="6714375" y="0"/>
            <a:ext cx="2429625" cy="5260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/>
          <p:nvPr/>
        </p:nvSpPr>
        <p:spPr>
          <a:xfrm>
            <a:off x="424438" y="3604300"/>
            <a:ext cx="7840200" cy="10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90204"/>
              <a:buNone/>
            </a:pPr>
            <a:r>
              <a:rPr lang="en-GB" sz="2400" b="1" i="0" u="none" strike="noStrike" cap="none">
                <a:solidFill>
                  <a:srgbClr val="00000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Spreadsheet Project:</a:t>
            </a:r>
            <a:endParaRPr sz="2400" b="1" i="0" u="none" strike="noStrike" cap="none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2400" b="1" i="0" u="none" strike="noStrike" cap="none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Zomato Restaurants Analysis</a:t>
            </a:r>
            <a:endParaRPr sz="2400" b="1" i="0" u="none" strike="noStrike" cap="none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54" name="Google Shape;54;p2"/>
          <p:cNvSpPr txBox="1"/>
          <p:nvPr/>
        </p:nvSpPr>
        <p:spPr>
          <a:xfrm>
            <a:off x="0" y="-17800"/>
            <a:ext cx="9144000" cy="51435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55" name="Google Shape;55;p2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15525"/>
            <a:ext cx="9144000" cy="507682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"/>
          <p:cNvSpPr txBox="1"/>
          <p:nvPr/>
        </p:nvSpPr>
        <p:spPr>
          <a:xfrm>
            <a:off x="320350" y="2224700"/>
            <a:ext cx="2002200" cy="16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i="1" u="sng">
                <a:latin typeface="Georgia" panose="02040502050405090303" charset="0"/>
                <a:ea typeface="Georgia" panose="02040502050405090303"/>
                <a:cs typeface="Georgia" panose="02040502050405090303" charset="0"/>
                <a:sym typeface="Georgia" panose="02040502050405090303"/>
              </a:rPr>
              <a:t>PROJECT : </a:t>
            </a:r>
            <a:r>
              <a:rPr lang="en-GB" sz="1700" b="1" i="1">
                <a:latin typeface="Georgia" panose="02040502050405090303" charset="0"/>
                <a:ea typeface="Georgia" panose="02040502050405090303"/>
                <a:cs typeface="Georgia" panose="02040502050405090303" charset="0"/>
                <a:sym typeface="Georgia" panose="02040502050405090303"/>
              </a:rPr>
              <a:t>ZOMATO </a:t>
            </a:r>
            <a:endParaRPr sz="1700" b="1" i="1">
              <a:latin typeface="Georgia" panose="02040502050405090303" charset="0"/>
              <a:ea typeface="Georgia" panose="02040502050405090303"/>
              <a:cs typeface="Georgia" panose="02040502050405090303" charset="0"/>
              <a:sym typeface="Georgia" panose="02040502050405090303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i="1">
                <a:latin typeface="Georgia" panose="02040502050405090303" charset="0"/>
                <a:ea typeface="Georgia" panose="02040502050405090303"/>
                <a:cs typeface="Georgia" panose="02040502050405090303" charset="0"/>
                <a:sym typeface="Georgia" panose="02040502050405090303"/>
              </a:rPr>
              <a:t>SPREADSHEET</a:t>
            </a:r>
            <a:endParaRPr sz="1700" b="1" i="1">
              <a:latin typeface="Georgia" panose="02040502050405090303" charset="0"/>
              <a:ea typeface="Georgia" panose="02040502050405090303"/>
              <a:cs typeface="Georgia" panose="02040502050405090303" charset="0"/>
              <a:sym typeface="Georgia" panose="02040502050405090303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i="1">
                <a:latin typeface="Georgia" panose="02040502050405090303" charset="0"/>
                <a:ea typeface="Georgia" panose="02040502050405090303"/>
                <a:cs typeface="Georgia" panose="02040502050405090303" charset="0"/>
                <a:sym typeface="Georgia" panose="02040502050405090303"/>
              </a:rPr>
              <a:t>ANALYSIS</a:t>
            </a:r>
            <a:endParaRPr sz="1700" b="1" i="1">
              <a:latin typeface="Georgia" panose="02040502050405090303" charset="0"/>
              <a:ea typeface="Georgia" panose="02040502050405090303"/>
              <a:cs typeface="Georgia" panose="02040502050405090303" charset="0"/>
              <a:sym typeface="Georgia" panose="020405020504050903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 txBox="1"/>
          <p:nvPr/>
        </p:nvSpPr>
        <p:spPr>
          <a:xfrm>
            <a:off x="486275" y="1384950"/>
            <a:ext cx="4920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2295900" y="845375"/>
            <a:ext cx="4333800" cy="3888900"/>
          </a:xfrm>
          <a:prstGeom prst="ellipse">
            <a:avLst/>
          </a:prstGeom>
          <a:gradFill>
            <a:gsLst>
              <a:gs pos="0">
                <a:srgbClr val="3176EE"/>
              </a:gs>
              <a:gs pos="100000">
                <a:srgbClr val="113D8A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3" name="Google Shape;63;p3"/>
          <p:cNvSpPr/>
          <p:nvPr/>
        </p:nvSpPr>
        <p:spPr>
          <a:xfrm>
            <a:off x="4974425" y="1005325"/>
            <a:ext cx="2233500" cy="1512900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OBJECTIVES</a:t>
            </a:r>
            <a:endParaRPr sz="1700" b="1"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974425" y="3064550"/>
            <a:ext cx="2233500" cy="1512900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KEY METRICS</a:t>
            </a:r>
            <a:br>
              <a:rPr lang="en-GB" sz="1600" b="1"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r>
              <a:rPr lang="en-GB" sz="1600" b="1"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&amp;</a:t>
            </a:r>
            <a:br>
              <a:rPr lang="en-GB" sz="1600" b="1"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r>
              <a:rPr lang="en-GB" sz="1600" b="1"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VISUALIZATION</a:t>
            </a:r>
            <a:endParaRPr sz="1600" b="1"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916600" y="1005325"/>
            <a:ext cx="2233500" cy="1512900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PROBLEM</a:t>
            </a:r>
            <a:endParaRPr sz="1800" b="1"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STATEMENT</a:t>
            </a:r>
            <a:endParaRPr sz="1700" b="1"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916600" y="3064550"/>
            <a:ext cx="2233500" cy="1512900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DATA DESCRIPTION</a:t>
            </a:r>
            <a:br>
              <a:rPr lang="en-GB" sz="1600" b="1"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r>
              <a:rPr lang="en-GB" sz="1600" b="1"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&amp;</a:t>
            </a:r>
            <a:br>
              <a:rPr lang="en-GB" sz="1600" b="1"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r>
              <a:rPr lang="en-GB" sz="1600" b="1"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METHODOLOGY</a:t>
            </a:r>
            <a:endParaRPr sz="1600" b="1"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122100" y="1005525"/>
            <a:ext cx="4156375" cy="23214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4"/>
          <p:cNvSpPr txBox="1"/>
          <p:nvPr/>
        </p:nvSpPr>
        <p:spPr>
          <a:xfrm>
            <a:off x="1637388" y="391575"/>
            <a:ext cx="51258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 u="sng">
                <a:solidFill>
                  <a:schemeClr val="accent1">
                    <a:lumMod val="50000"/>
                  </a:schemeClr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PROBLEM STATEMENT</a:t>
            </a:r>
            <a:endParaRPr lang="en-GB" sz="2100" b="1" u="sng">
              <a:solidFill>
                <a:schemeClr val="accent1">
                  <a:lumMod val="50000"/>
                </a:schemeClr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  <p:sp>
        <p:nvSpPr>
          <p:cNvPr id="73" name="Google Shape;73;p4"/>
          <p:cNvSpPr txBox="1"/>
          <p:nvPr/>
        </p:nvSpPr>
        <p:spPr>
          <a:xfrm>
            <a:off x="320350" y="3577325"/>
            <a:ext cx="8204700" cy="14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</a:pPr>
            <a:br>
              <a:rPr lang="en-GB" sz="2300" b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r>
              <a:rPr lang="en-GB" sz="1500" b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Zomato is seeking to expand its presence by identifying new strategic locations for restaurant openings. This project utilizes data-driven insights to suggest optimal areas for expansion based on ratings, price, votes and cuisines.</a:t>
            </a:r>
            <a:endParaRPr sz="1300" b="1"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31350" y="913300"/>
            <a:ext cx="8204673" cy="41493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5"/>
          <p:cNvSpPr txBox="1"/>
          <p:nvPr/>
        </p:nvSpPr>
        <p:spPr>
          <a:xfrm>
            <a:off x="275850" y="266975"/>
            <a:ext cx="64695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You are hired as a consultant data analyst by Zomato where the team is looking   for expansion and opening more restaurants. Your task is to develop strategies/suggestions for opening newer restaurants</a:t>
            </a:r>
            <a:r>
              <a:rPr lang="en-GB" sz="900" b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 </a:t>
            </a:r>
            <a:r>
              <a:rPr lang="en-GB" sz="1700" b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.</a:t>
            </a:r>
            <a:endParaRPr sz="700" b="1"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" b="1"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 txBox="1"/>
          <p:nvPr/>
        </p:nvSpPr>
        <p:spPr>
          <a:xfrm>
            <a:off x="338550" y="533475"/>
            <a:ext cx="8466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85" name="Google Shape;85;p6"/>
          <p:cNvSpPr txBox="1"/>
          <p:nvPr/>
        </p:nvSpPr>
        <p:spPr>
          <a:xfrm>
            <a:off x="1637375" y="409350"/>
            <a:ext cx="5179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u="sng">
                <a:solidFill>
                  <a:schemeClr val="accent1">
                    <a:lumMod val="50000"/>
                  </a:schemeClr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OBJECTIVES</a:t>
            </a:r>
            <a:endParaRPr lang="en-GB" sz="2000" b="1" u="sng">
              <a:solidFill>
                <a:schemeClr val="accent1">
                  <a:lumMod val="50000"/>
                </a:schemeClr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  <p:sp>
        <p:nvSpPr>
          <p:cNvPr id="86" name="Google Shape;86;p6"/>
          <p:cNvSpPr txBox="1"/>
          <p:nvPr/>
        </p:nvSpPr>
        <p:spPr>
          <a:xfrm>
            <a:off x="462725" y="978875"/>
            <a:ext cx="7955400" cy="37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 panose="02040502050405090303"/>
              <a:buChar char="●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Identify high-potential countries for Zomato’s international expansion by analyzing global market trends and growth indicators.</a:t>
            </a:r>
            <a:b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 panose="02040502050405090303"/>
              <a:buChar char="●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Examine market patterns, including cuisine preferences, competitive presence, and demographic behavior, to understand emerging opportunities.</a:t>
            </a:r>
            <a:b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 panose="02040502050405090303"/>
              <a:buChar char="●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Study restaurant distribution across regions to assess supply gaps, saturation levels, and partnership potential.</a:t>
            </a:r>
            <a:b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 panose="02040502050405090303"/>
              <a:buChar char="●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Analyze customer feedback, reviews, and pricing models to evaluate consumer expectations and spending behavior.</a:t>
            </a:r>
            <a:b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Improve service delivery by systematically collecting customer satisfaction data and leveraging insights to enhance user experience.</a:t>
            </a:r>
            <a:br>
              <a:rPr lang="en-GB" sz="1100" b="1">
                <a:solidFill>
                  <a:schemeClr val="dk1"/>
                </a:solidFill>
              </a:rPr>
            </a:b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 txBox="1"/>
          <p:nvPr/>
        </p:nvSpPr>
        <p:spPr>
          <a:xfrm>
            <a:off x="2696325" y="320375"/>
            <a:ext cx="36306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u="sng">
                <a:solidFill>
                  <a:schemeClr val="accent1">
                    <a:lumMod val="50000"/>
                  </a:schemeClr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DATA OVERVIEW</a:t>
            </a:r>
            <a:endParaRPr lang="en-GB" sz="2000" b="1" u="sng">
              <a:solidFill>
                <a:schemeClr val="accent1">
                  <a:lumMod val="50000"/>
                </a:schemeClr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  <p:sp>
        <p:nvSpPr>
          <p:cNvPr id="92" name="Google Shape;92;p7"/>
          <p:cNvSpPr txBox="1"/>
          <p:nvPr/>
        </p:nvSpPr>
        <p:spPr>
          <a:xfrm>
            <a:off x="151250" y="800975"/>
            <a:ext cx="4057800" cy="39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-69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Restaurant ID: </a:t>
            </a:r>
            <a:r>
              <a:rPr lang="en-GB" sz="1100">
                <a:solidFill>
                  <a:schemeClr val="dk1"/>
                </a:solidFill>
              </a:rPr>
              <a:t>Unique identifier for each restaurant.</a:t>
            </a:r>
            <a:endParaRPr sz="1100" b="1">
              <a:solidFill>
                <a:schemeClr val="dk1"/>
              </a:solidFill>
            </a:endParaRPr>
          </a:p>
          <a:p>
            <a:pPr marL="0" lvl="0" indent="-698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Restaurant Name: </a:t>
            </a:r>
            <a:r>
              <a:rPr lang="en-GB" sz="1100">
                <a:solidFill>
                  <a:schemeClr val="dk1"/>
                </a:solidFill>
              </a:rPr>
              <a:t>The name of the restaurant.</a:t>
            </a:r>
            <a:endParaRPr sz="1100" b="1">
              <a:solidFill>
                <a:schemeClr val="dk1"/>
              </a:solidFill>
            </a:endParaRPr>
          </a:p>
          <a:p>
            <a:pPr marL="0" lvl="0" indent="-698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CountryCode: </a:t>
            </a:r>
            <a:r>
              <a:rPr lang="en-GB" sz="1100">
                <a:solidFill>
                  <a:schemeClr val="dk1"/>
                </a:solidFill>
              </a:rPr>
              <a:t>Country code of the location where the restaurant is situated.</a:t>
            </a:r>
            <a:endParaRPr sz="1100" b="1">
              <a:solidFill>
                <a:schemeClr val="dk1"/>
              </a:solidFill>
            </a:endParaRPr>
          </a:p>
          <a:p>
            <a:pPr marL="0" lvl="0" indent="-698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City: </a:t>
            </a:r>
            <a:r>
              <a:rPr lang="en-GB" sz="1100">
                <a:solidFill>
                  <a:schemeClr val="dk1"/>
                </a:solidFill>
              </a:rPr>
              <a:t>The city where the restaurant is located.</a:t>
            </a:r>
            <a:endParaRPr sz="1100" b="1">
              <a:solidFill>
                <a:schemeClr val="dk1"/>
              </a:solidFill>
            </a:endParaRPr>
          </a:p>
          <a:p>
            <a:pPr marL="0" lvl="0" indent="-698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Address: </a:t>
            </a:r>
            <a:r>
              <a:rPr lang="en-GB" sz="1100">
                <a:solidFill>
                  <a:schemeClr val="dk1"/>
                </a:solidFill>
              </a:rPr>
              <a:t>The specific address of the restaurant.</a:t>
            </a:r>
            <a:endParaRPr sz="1100" b="1">
              <a:solidFill>
                <a:schemeClr val="dk1"/>
              </a:solidFill>
            </a:endParaRPr>
          </a:p>
          <a:p>
            <a:pPr marL="0" lvl="0" indent="-698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Locality: </a:t>
            </a:r>
            <a:r>
              <a:rPr lang="en-GB" sz="1100">
                <a:solidFill>
                  <a:schemeClr val="dk1"/>
                </a:solidFill>
              </a:rPr>
              <a:t>The locality or neighborhood where the restaurant is situated.</a:t>
            </a:r>
            <a:endParaRPr sz="1100" b="1">
              <a:solidFill>
                <a:schemeClr val="dk1"/>
              </a:solidFill>
            </a:endParaRPr>
          </a:p>
          <a:p>
            <a:pPr marL="0" lvl="0" indent="-698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Locality Verbose: </a:t>
            </a:r>
            <a:r>
              <a:rPr lang="en-GB" sz="1100">
                <a:solidFill>
                  <a:schemeClr val="dk1"/>
                </a:solidFill>
              </a:rPr>
              <a:t>Detailed information about the locality.</a:t>
            </a:r>
            <a:endParaRPr sz="1100" b="1">
              <a:solidFill>
                <a:schemeClr val="dk1"/>
              </a:solidFill>
            </a:endParaRPr>
          </a:p>
          <a:p>
            <a:pPr marL="0" lvl="0" indent="-698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Longitude: </a:t>
            </a:r>
            <a:r>
              <a:rPr lang="en-GB" sz="1100">
                <a:solidFill>
                  <a:schemeClr val="dk1"/>
                </a:solidFill>
              </a:rPr>
              <a:t>The geographical longitude coordinate of the restaurant.</a:t>
            </a:r>
            <a:endParaRPr sz="1100" b="1">
              <a:solidFill>
                <a:schemeClr val="dk1"/>
              </a:solidFill>
            </a:endParaRPr>
          </a:p>
          <a:p>
            <a:pPr marL="0" lvl="0" indent="-698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Latitude: </a:t>
            </a:r>
            <a:r>
              <a:rPr lang="en-GB" sz="1100">
                <a:solidFill>
                  <a:schemeClr val="dk1"/>
                </a:solidFill>
              </a:rPr>
              <a:t>The geographical latitude coordinate of the restaurant.</a:t>
            </a:r>
            <a:endParaRPr sz="1100" b="1">
              <a:solidFill>
                <a:schemeClr val="dk1"/>
              </a:solidFill>
            </a:endParaRPr>
          </a:p>
          <a:p>
            <a:pPr marL="0" lvl="0" indent="-698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Cuisines: </a:t>
            </a:r>
            <a:r>
              <a:rPr lang="en-GB" sz="1100">
                <a:solidFill>
                  <a:schemeClr val="dk1"/>
                </a:solidFill>
              </a:rPr>
              <a:t>The type of cuisine offered by the restaurant.</a:t>
            </a:r>
            <a:endParaRPr sz="1100" b="1">
              <a:solidFill>
                <a:schemeClr val="dk1"/>
              </a:solidFill>
            </a:endParaRPr>
          </a:p>
          <a:p>
            <a:pPr marL="0" lvl="0" indent="-698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Currency: </a:t>
            </a:r>
            <a:r>
              <a:rPr lang="en-GB" sz="1100">
                <a:solidFill>
                  <a:schemeClr val="dk1"/>
                </a:solidFill>
              </a:rPr>
              <a:t>The currency used for transactions in the restaurant.</a:t>
            </a:r>
            <a:endParaRPr sz="600">
              <a:solidFill>
                <a:schemeClr val="dk1"/>
              </a:solidFill>
            </a:endParaRPr>
          </a:p>
          <a:p>
            <a:pPr marL="0" lvl="0" indent="-698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Datekey_opening: </a:t>
            </a:r>
            <a:r>
              <a:rPr lang="en-GB" sz="1100">
                <a:solidFill>
                  <a:schemeClr val="dk1"/>
                </a:solidFill>
              </a:rPr>
              <a:t>The date when the restaurant was opened.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90204"/>
              <a:buNone/>
            </a:pPr>
            <a:endParaRPr sz="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"/>
          </a:p>
        </p:txBody>
      </p:sp>
      <p:sp>
        <p:nvSpPr>
          <p:cNvPr id="93" name="Google Shape;93;p7"/>
          <p:cNvSpPr txBox="1"/>
          <p:nvPr/>
        </p:nvSpPr>
        <p:spPr>
          <a:xfrm>
            <a:off x="4369300" y="889875"/>
            <a:ext cx="4609500" cy="41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-69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Has_Table_booking: </a:t>
            </a:r>
            <a:r>
              <a:rPr lang="en-GB" sz="1100">
                <a:solidFill>
                  <a:schemeClr val="dk1"/>
                </a:solidFill>
              </a:rPr>
              <a:t>Indicates whether the restaurant has a table booking option (Yes/No).</a:t>
            </a:r>
            <a:endParaRPr sz="1100" b="1">
              <a:solidFill>
                <a:schemeClr val="dk1"/>
              </a:solidFill>
            </a:endParaRPr>
          </a:p>
          <a:p>
            <a:pPr marL="0" lvl="0" indent="-69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Has_Online_delivery: </a:t>
            </a:r>
            <a:r>
              <a:rPr lang="en-GB" sz="1100">
                <a:solidFill>
                  <a:schemeClr val="dk1"/>
                </a:solidFill>
              </a:rPr>
              <a:t>Indicates whether the restaurant offers online delivery (Yes/No).</a:t>
            </a:r>
            <a:endParaRPr sz="1100" b="1">
              <a:solidFill>
                <a:schemeClr val="dk1"/>
              </a:solidFill>
            </a:endParaRPr>
          </a:p>
          <a:p>
            <a:pPr marL="0" lvl="0" indent="-69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Is_delivering_now: </a:t>
            </a:r>
            <a:r>
              <a:rPr lang="en-GB" sz="1100">
                <a:solidFill>
                  <a:schemeClr val="dk1"/>
                </a:solidFill>
              </a:rPr>
              <a:t>Indicates whether the restaurant is currently delivering (Yes/No).</a:t>
            </a:r>
            <a:endParaRPr sz="1100" b="1">
              <a:solidFill>
                <a:schemeClr val="dk1"/>
              </a:solidFill>
            </a:endParaRPr>
          </a:p>
          <a:p>
            <a:pPr marL="0" lvl="0" indent="-69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Switch_to_order_menu: </a:t>
            </a:r>
            <a:r>
              <a:rPr lang="en-GB" sz="1100">
                <a:solidFill>
                  <a:schemeClr val="dk1"/>
                </a:solidFill>
              </a:rPr>
              <a:t>Indicates whether users can switch to the order menu (Yes/No).</a:t>
            </a:r>
            <a:endParaRPr sz="1100" b="1">
              <a:solidFill>
                <a:schemeClr val="dk1"/>
              </a:solidFill>
            </a:endParaRPr>
          </a:p>
          <a:p>
            <a:pPr marL="0" lvl="0" indent="-69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Price_range: </a:t>
            </a:r>
            <a:r>
              <a:rPr lang="en-GB" sz="1100">
                <a:solidFill>
                  <a:schemeClr val="dk1"/>
                </a:solidFill>
              </a:rPr>
              <a:t>A numeric value indicating the price range category of the restaurant.</a:t>
            </a:r>
            <a:endParaRPr sz="1100" b="1">
              <a:solidFill>
                <a:schemeClr val="dk1"/>
              </a:solidFill>
            </a:endParaRPr>
          </a:p>
          <a:p>
            <a:pPr marL="0" lvl="0" indent="-69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Votes: </a:t>
            </a:r>
            <a:r>
              <a:rPr lang="en-GB" sz="1100">
                <a:solidFill>
                  <a:schemeClr val="dk1"/>
                </a:solidFill>
              </a:rPr>
              <a:t>The number of votes or ratings/(feedback) received by the restaurant.</a:t>
            </a:r>
            <a:endParaRPr sz="1100" b="1">
              <a:solidFill>
                <a:schemeClr val="dk1"/>
              </a:solidFill>
            </a:endParaRPr>
          </a:p>
          <a:p>
            <a:pPr marL="0" lvl="0" indent="-69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Average_Cost_for_two: </a:t>
            </a:r>
            <a:r>
              <a:rPr lang="en-GB" sz="1100">
                <a:solidFill>
                  <a:schemeClr val="dk1"/>
                </a:solidFill>
              </a:rPr>
              <a:t>The average cost for two people dining at the restaurant.</a:t>
            </a:r>
            <a:endParaRPr sz="1100" b="1">
              <a:solidFill>
                <a:schemeClr val="dk1"/>
              </a:solidFill>
            </a:endParaRPr>
          </a:p>
          <a:p>
            <a:pPr marL="0" lvl="0" indent="-69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5C99"/>
              </a:buClr>
              <a:buSzPts val="1100"/>
              <a:buChar char="•"/>
            </a:pPr>
            <a:r>
              <a:rPr lang="en-GB" sz="1100" b="1">
                <a:solidFill>
                  <a:srgbClr val="1F5C99"/>
                </a:solidFill>
              </a:rPr>
              <a:t>Rating: </a:t>
            </a:r>
            <a:r>
              <a:rPr lang="en-GB" sz="1100">
                <a:solidFill>
                  <a:schemeClr val="dk1"/>
                </a:solidFill>
              </a:rPr>
              <a:t>The overall rating of the restaurant is based on user reviews. </a:t>
            </a:r>
            <a:endParaRPr sz="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" name="Google Shape;98;p8"/>
          <p:cNvGraphicFramePr/>
          <p:nvPr/>
        </p:nvGraphicFramePr>
        <p:xfrm>
          <a:off x="1110645" y="1602650"/>
          <a:ext cx="7237150" cy="3000000"/>
        </p:xfrm>
        <a:graphic>
          <a:graphicData uri="http://schemas.openxmlformats.org/drawingml/2006/table">
            <a:tbl>
              <a:tblPr firstRow="1" bandRow="1">
                <a:noFill/>
                <a:tableStyleId>{9D0B902C-D26E-4EDE-AF04-9CB874445466}</a:tableStyleId>
              </a:tblPr>
              <a:tblGrid>
                <a:gridCol w="3618575"/>
                <a:gridCol w="3618575"/>
              </a:tblGrid>
              <a:tr h="620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5C99"/>
                        </a:buClr>
                        <a:buSzPts val="1600"/>
                        <a:buFont typeface="Arial" panose="020B0604020202090204"/>
                        <a:buNone/>
                      </a:pPr>
                      <a:r>
                        <a:rPr lang="en-GB" sz="1600" u="none" strike="noStrike" cap="none">
                          <a:solidFill>
                            <a:schemeClr val="tx1"/>
                          </a:solidFill>
                        </a:rPr>
                        <a:t>                      Total Restaurants</a:t>
                      </a:r>
                      <a:endParaRPr sz="1600" u="none" strike="noStrike" cap="none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9551</a:t>
                      </a:r>
                      <a:endParaRPr lang="en-GB" sz="160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9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Total Countries </a:t>
                      </a:r>
                      <a:endParaRPr lang="en-GB" sz="160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GB" sz="160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9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Total Cities</a:t>
                      </a:r>
                      <a:endParaRPr lang="en-GB" sz="160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140</a:t>
                      </a:r>
                      <a:endParaRPr lang="en-GB" sz="160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9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Total cuisines</a:t>
                      </a:r>
                      <a:endParaRPr lang="en-GB" sz="160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1821</a:t>
                      </a:r>
                      <a:endParaRPr lang="en-GB" sz="160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9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Service offered</a:t>
                      </a:r>
                      <a:endParaRPr lang="en-GB" sz="160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Online Booking, Table Booking</a:t>
                      </a:r>
                      <a:endParaRPr lang="en-GB" sz="160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0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Average Rating</a:t>
                      </a:r>
                      <a:endParaRPr lang="en-GB" sz="160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2.89</a:t>
                      </a:r>
                      <a:endParaRPr lang="en-GB" sz="160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9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Average price in INR</a:t>
                      </a:r>
                      <a:endParaRPr lang="en-GB" sz="160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strike="noStrike">
                          <a:solidFill>
                            <a:schemeClr val="tx1"/>
                          </a:solidFill>
                        </a:rPr>
                        <a:t>₹863</a:t>
                      </a: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GB" sz="160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C7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99" name="Google Shape;99;p8"/>
          <p:cNvSpPr txBox="1"/>
          <p:nvPr/>
        </p:nvSpPr>
        <p:spPr>
          <a:xfrm>
            <a:off x="1826700" y="763995"/>
            <a:ext cx="5490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 u="sng">
                <a:solidFill>
                  <a:schemeClr val="accent1">
                    <a:lumMod val="50000"/>
                  </a:schemeClr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DATA SNAPSHOT</a:t>
            </a:r>
            <a:endParaRPr lang="en-GB" sz="2100" b="1" u="sng">
              <a:solidFill>
                <a:schemeClr val="accent1">
                  <a:lumMod val="50000"/>
                </a:schemeClr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"/>
          <p:cNvSpPr txBox="1"/>
          <p:nvPr/>
        </p:nvSpPr>
        <p:spPr>
          <a:xfrm>
            <a:off x="266975" y="1067850"/>
            <a:ext cx="8542800" cy="38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100" b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Data Cleaning:</a:t>
            </a:r>
            <a:endParaRPr sz="1100" b="1"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eorgia" panose="02040502050405090303"/>
              <a:buChar char="●"/>
            </a:pPr>
            <a:r>
              <a:rPr lang="en-GB" sz="1100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Resolved missing values in the </a:t>
            </a:r>
            <a:r>
              <a:rPr lang="en-GB" sz="1100" i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Cuisine</a:t>
            </a:r>
            <a:r>
              <a:rPr lang="en-GB" sz="1100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 column to ensure consistency and accuracy.</a:t>
            </a:r>
            <a:br>
              <a:rPr lang="en-GB" sz="1100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endParaRPr sz="1100"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eorgia" panose="02040502050405090303"/>
              <a:buChar char="●"/>
            </a:pPr>
            <a:r>
              <a:rPr lang="en-GB" sz="1100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Removed redundant and irrelevant columns to streamline the dataset and improve overall usability.</a:t>
            </a:r>
            <a:br>
              <a:rPr lang="en-GB" sz="1100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endParaRPr sz="1100"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100" b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Data Enrichment:</a:t>
            </a:r>
            <a:endParaRPr sz="1100" b="1"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Added meaningful context to the dataset by mapping each country code to its corresponding country name using </a:t>
            </a:r>
            <a:r>
              <a:rPr lang="en-GB" sz="1100" b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VLOOKUP</a:t>
            </a:r>
            <a:r>
              <a:rPr lang="en-GB" sz="1100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.</a:t>
            </a:r>
            <a:br>
              <a:rPr lang="en-GB" sz="1100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endParaRPr sz="1100"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eorgia" panose="02040502050405090303"/>
              <a:buChar char="●"/>
            </a:pPr>
            <a:r>
              <a:rPr lang="en-GB" sz="1100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Extracted the year from the </a:t>
            </a:r>
            <a:r>
              <a:rPr lang="en-GB" sz="1100" i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date key opening</a:t>
            </a:r>
            <a:r>
              <a:rPr lang="en-GB" sz="1100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 field using text functions, enabling effective analysis of year-wise trends and patterns.</a:t>
            </a:r>
            <a:br>
              <a:rPr lang="en-GB" sz="1100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endParaRPr sz="1100"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100" b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Descriptive Analysis:</a:t>
            </a:r>
            <a:endParaRPr sz="1100" b="1"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Utilized </a:t>
            </a:r>
            <a:r>
              <a:rPr lang="en-GB" sz="1100" b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pivot tables</a:t>
            </a:r>
            <a:r>
              <a:rPr lang="en-GB" sz="1100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 to summarize key metrics and uncover relationships within the data.</a:t>
            </a:r>
            <a:br>
              <a:rPr lang="en-GB" sz="1100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endParaRPr sz="1100"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Created </a:t>
            </a:r>
            <a:r>
              <a:rPr lang="en-GB" sz="1100" b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pivot charts</a:t>
            </a:r>
            <a:r>
              <a:rPr lang="en-GB" sz="1100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 to visually represent insights, making complex information easy to interpret and supporting data-driven decision-making.</a:t>
            </a:r>
            <a:br>
              <a:rPr lang="en-GB" sz="1100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endParaRPr sz="1100"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5" name="Google Shape;105;p9"/>
          <p:cNvSpPr txBox="1"/>
          <p:nvPr/>
        </p:nvSpPr>
        <p:spPr>
          <a:xfrm>
            <a:off x="2046725" y="596225"/>
            <a:ext cx="39066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u="sng">
                <a:solidFill>
                  <a:schemeClr val="accent1">
                    <a:lumMod val="50000"/>
                  </a:schemeClr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METHODOLOGY</a:t>
            </a:r>
            <a:endParaRPr lang="en-GB" sz="2000" b="1" u="sng">
              <a:solidFill>
                <a:schemeClr val="accent1">
                  <a:lumMod val="50000"/>
                </a:schemeClr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b6e91aa64b_1_0"/>
          <p:cNvSpPr txBox="1"/>
          <p:nvPr/>
        </p:nvSpPr>
        <p:spPr>
          <a:xfrm>
            <a:off x="1944750" y="259900"/>
            <a:ext cx="5254500" cy="532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r>
              <a:rPr lang="en-GB" sz="2000" b="1" u="sng">
                <a:solidFill>
                  <a:schemeClr val="accent1">
                    <a:lumMod val="50000"/>
                  </a:schemeClr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KEY METRICS AND VISUALIZATION</a:t>
            </a:r>
            <a:endParaRPr lang="en-GB" sz="2000" b="1" i="0" u="sng" strike="noStrike" cap="none">
              <a:solidFill>
                <a:schemeClr val="accent1">
                  <a:lumMod val="50000"/>
                </a:schemeClr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  <p:sp>
        <p:nvSpPr>
          <p:cNvPr id="112" name="Google Shape;112;g2b6e91aa64b_1_0"/>
          <p:cNvSpPr txBox="1"/>
          <p:nvPr/>
        </p:nvSpPr>
        <p:spPr>
          <a:xfrm>
            <a:off x="391550" y="1005575"/>
            <a:ext cx="7243500" cy="12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730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 panose="02040502050405090303"/>
              <a:buChar char="⮚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Calculated the total number of restaurants per country and visualized the insights through charts. </a:t>
            </a: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285750" lvl="0" indent="-273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 panose="02040502050405090303"/>
              <a:buChar char="⮚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It is advisable to open new restaurants in Brazil, Sri Lanka, Canada, and Australia.</a:t>
            </a:r>
            <a:endParaRPr sz="1000"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  <p:graphicFrame>
        <p:nvGraphicFramePr>
          <p:cNvPr id="7" name="Chart 6"/>
          <p:cNvGraphicFramePr/>
          <p:nvPr/>
        </p:nvGraphicFramePr>
        <p:xfrm>
          <a:off x="1781175" y="2036445"/>
          <a:ext cx="5004435" cy="2632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"/>
          <p:cNvSpPr txBox="1"/>
          <p:nvPr/>
        </p:nvSpPr>
        <p:spPr>
          <a:xfrm>
            <a:off x="339725" y="896620"/>
            <a:ext cx="7793355" cy="1096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66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 panose="02040502050405090303"/>
              <a:buChar char="⮚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Calculated the average number of voters per restaurant by country for comparative analysis.</a:t>
            </a:r>
            <a:br>
              <a:rPr lang="en-GB" sz="1500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A country with significant proportion of voters indicates more interaction with customers.</a:t>
            </a: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285750" lvl="0" indent="-254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eorgia" panose="02040502050405090303"/>
              <a:buChar char="⮚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Example from Chart: Indonesia, UAE, Turkey.</a:t>
            </a:r>
            <a:endParaRPr sz="1200"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  <p:graphicFrame>
        <p:nvGraphicFramePr>
          <p:cNvPr id="4" name="Chart 3"/>
          <p:cNvGraphicFramePr/>
          <p:nvPr/>
        </p:nvGraphicFramePr>
        <p:xfrm>
          <a:off x="421005" y="2051685"/>
          <a:ext cx="6867525" cy="24745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" name="Text Box 0"/>
          <p:cNvSpPr txBox="1"/>
          <p:nvPr/>
        </p:nvSpPr>
        <p:spPr>
          <a:xfrm>
            <a:off x="213360" y="463550"/>
            <a:ext cx="5309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800" b="1" u="sng">
                <a:solidFill>
                  <a:schemeClr val="accent1">
                    <a:lumMod val="50000"/>
                  </a:schemeClr>
                </a:solidFill>
                <a:latin typeface="Georgia" panose="02040502050405090303" charset="0"/>
                <a:cs typeface="Georgia" panose="02040502050405090303" charset="0"/>
              </a:rPr>
              <a:t>AVERAGE VOTERS PER COUNTRY</a:t>
            </a:r>
            <a:endParaRPr lang="en-US" sz="1800" b="1" u="sng">
              <a:solidFill>
                <a:schemeClr val="accent1">
                  <a:lumMod val="50000"/>
                </a:schemeClr>
              </a:solidFill>
              <a:latin typeface="Georgia" panose="02040502050405090303" charset="0"/>
              <a:cs typeface="Georgia" panose="02040502050405090303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"/>
          <p:cNvSpPr txBox="1"/>
          <p:nvPr/>
        </p:nvSpPr>
        <p:spPr>
          <a:xfrm>
            <a:off x="631825" y="1004570"/>
            <a:ext cx="7510780" cy="570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47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eorgia" panose="02040502050405090303"/>
              <a:buChar char="⮚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A higher number of restaurants suggests greater consumer involvement.</a:t>
            </a:r>
            <a:b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</a:b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Example from Chart: Years 2011, 2017, and 2018</a:t>
            </a:r>
            <a:endParaRPr sz="1200"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  <p:graphicFrame>
        <p:nvGraphicFramePr>
          <p:cNvPr id="3" name="Chart 2"/>
          <p:cNvGraphicFramePr/>
          <p:nvPr/>
        </p:nvGraphicFramePr>
        <p:xfrm>
          <a:off x="1840865" y="1993900"/>
          <a:ext cx="4602480" cy="2734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" name="Text Box 0"/>
          <p:cNvSpPr txBox="1"/>
          <p:nvPr/>
        </p:nvSpPr>
        <p:spPr>
          <a:xfrm>
            <a:off x="1600835" y="463550"/>
            <a:ext cx="4603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800" b="1" u="sng">
                <a:solidFill>
                  <a:schemeClr val="accent1">
                    <a:lumMod val="50000"/>
                  </a:schemeClr>
                </a:solidFill>
                <a:latin typeface="Georgia" panose="02040502050405090303" charset="0"/>
                <a:cs typeface="Georgia" panose="02040502050405090303" charset="0"/>
              </a:rPr>
              <a:t>RESTAURANTS OPENED EACH YEAR</a:t>
            </a:r>
            <a:endParaRPr lang="en-US" sz="1800" b="1" u="sng">
              <a:solidFill>
                <a:schemeClr val="accent1">
                  <a:lumMod val="50000"/>
                </a:schemeClr>
              </a:solidFill>
              <a:latin typeface="Georgia" panose="02040502050405090303" charset="0"/>
              <a:cs typeface="Georgia" panose="02040502050405090303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/>
        </p:nvSpPr>
        <p:spPr>
          <a:xfrm>
            <a:off x="303425" y="5287250"/>
            <a:ext cx="8233800" cy="18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90204"/>
              <a:buNone/>
            </a:pPr>
            <a:endParaRPr sz="1500" b="1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130" name="Google Shape;130;p12" descr="A graph with a line&#10;&#10;AI-generated content may be incorrect.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117725" y="2047875"/>
            <a:ext cx="4751070" cy="280860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1" name="Google Shape;131;p12"/>
          <p:cNvSpPr txBox="1"/>
          <p:nvPr/>
        </p:nvSpPr>
        <p:spPr>
          <a:xfrm>
            <a:off x="213360" y="844550"/>
            <a:ext cx="8507095" cy="942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111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ingdings" panose="05000000000000000000" charset="0"/>
              <a:buChar char=""/>
            </a:pPr>
            <a:r>
              <a:rPr lang="en-US" alt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I</a:t>
            </a: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t is mandatory to understand ratings of restaurants in order to develop marketing plans and assess performance.</a:t>
            </a: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3111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ingdings" panose="05000000000000000000" charset="0"/>
              <a:buChar char="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High rating:</a:t>
            </a:r>
            <a:r>
              <a:rPr lang="en-GB" b="1" i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 </a:t>
            </a: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Philippines, Turkey [These countries face major market demands].</a:t>
            </a: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3111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ingdings" panose="05000000000000000000" charset="0"/>
              <a:buChar char="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Low rating: Canada, Singapore [Improvements must be made]</a:t>
            </a:r>
            <a:endParaRPr b="1" i="1"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"/>
            </a:pPr>
          </a:p>
        </p:txBody>
      </p:sp>
      <p:sp>
        <p:nvSpPr>
          <p:cNvPr id="1" name="Text Box 0"/>
          <p:cNvSpPr txBox="1"/>
          <p:nvPr/>
        </p:nvSpPr>
        <p:spPr>
          <a:xfrm>
            <a:off x="2170430" y="569595"/>
            <a:ext cx="4152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800" b="1" u="sng">
                <a:solidFill>
                  <a:schemeClr val="accent1">
                    <a:lumMod val="50000"/>
                  </a:schemeClr>
                </a:solidFill>
                <a:latin typeface="Georgia" panose="02040502050405090303" charset="0"/>
                <a:cs typeface="Georgia" panose="02040502050405090303" charset="0"/>
              </a:rPr>
              <a:t>AVERAGE OF RATING</a:t>
            </a:r>
            <a:endParaRPr lang="en-US" sz="1800" b="1" u="sng">
              <a:solidFill>
                <a:schemeClr val="accent1">
                  <a:lumMod val="50000"/>
                </a:schemeClr>
              </a:solidFill>
              <a:latin typeface="Georgia" panose="02040502050405090303" charset="0"/>
              <a:cs typeface="Georgia" panose="02040502050405090303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3" descr="A graph with blue lines and white text&#10;&#10;AI-generated content may be incorrect.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772920" y="2299970"/>
            <a:ext cx="4911090" cy="262064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7" name="Google Shape;137;p13"/>
          <p:cNvSpPr txBox="1"/>
          <p:nvPr/>
        </p:nvSpPr>
        <p:spPr>
          <a:xfrm>
            <a:off x="266700" y="461010"/>
            <a:ext cx="7839710" cy="1701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111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ingdings" panose="05000000000000000000" charset="0"/>
              <a:buChar char=""/>
            </a:pPr>
            <a:r>
              <a:rPr lang="en-GB" b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Singapore</a:t>
            </a: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 is the most expensive, averaging .</a:t>
            </a: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3111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ingdings" panose="05000000000000000000" charset="0"/>
              <a:buChar char=""/>
            </a:pPr>
            <a:r>
              <a:rPr lang="en-GB" b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India </a:t>
            </a: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and the </a:t>
            </a:r>
            <a:r>
              <a:rPr lang="en-GB" b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UAE </a:t>
            </a: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offer the most affordable dining.</a:t>
            </a: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3111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ingdings" panose="05000000000000000000" charset="0"/>
              <a:buChar char="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Only </a:t>
            </a:r>
            <a:r>
              <a:rPr lang="en-GB" b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Singapore</a:t>
            </a: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 and the </a:t>
            </a:r>
            <a:r>
              <a:rPr lang="en-GB" b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Philippines</a:t>
            </a: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 (over ) exceed this threshold.</a:t>
            </a: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charset="0"/>
              <a:buChar char="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 The </a:t>
            </a:r>
            <a:r>
              <a:rPr lang="en-GB" b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UK </a:t>
            </a: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is over double the cost of the </a:t>
            </a:r>
            <a:r>
              <a:rPr lang="en-GB" b="1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USA</a:t>
            </a: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, showing major differences even within key markets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3873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charset="0"/>
              <a:buChar char=""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6864134713_1_3"/>
          <p:cNvSpPr txBox="1"/>
          <p:nvPr/>
        </p:nvSpPr>
        <p:spPr>
          <a:xfrm>
            <a:off x="369450" y="248550"/>
            <a:ext cx="4644600" cy="79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GB" sz="2000" b="1" u="sng">
                <a:solidFill>
                  <a:schemeClr val="accent1">
                    <a:lumMod val="50000"/>
                  </a:schemeClr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D</a:t>
            </a:r>
            <a:r>
              <a:rPr lang="en-US" altLang="en-GB" sz="2000" b="1" u="sng">
                <a:solidFill>
                  <a:schemeClr val="accent1">
                    <a:lumMod val="50000"/>
                  </a:schemeClr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ELIVERY AND TABLE BOOKING ANALYSIS</a:t>
            </a:r>
            <a:endParaRPr lang="en-US" altLang="en-GB" sz="2000" b="1" i="0" u="sng" strike="noStrike" cap="none">
              <a:solidFill>
                <a:schemeClr val="accent1">
                  <a:lumMod val="50000"/>
                </a:schemeClr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  <p:pic>
        <p:nvPicPr>
          <p:cNvPr id="143" name="Google Shape;143;g26864134713_1_3" descr="A pie chart with text&#10;&#10;AI-generated content may be incorrect.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26390" y="2910205"/>
            <a:ext cx="3179445" cy="178054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44" name="Google Shape;144;g26864134713_1_3" descr="A pie chart with text&#10;&#10;AI-generated content may be incorrect.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26399" y="1050051"/>
            <a:ext cx="3179250" cy="17803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5" name="Google Shape;145;g26864134713_1_3"/>
          <p:cNvSpPr txBox="1"/>
          <p:nvPr/>
        </p:nvSpPr>
        <p:spPr>
          <a:xfrm>
            <a:off x="4057850" y="1050050"/>
            <a:ext cx="4244700" cy="3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984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ingdings" panose="05000000000000000000" charset="0"/>
              <a:buChar char="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Restaurants with online delivery and table booking have slightly better average ratings.</a:t>
            </a: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2984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ingdings" panose="05000000000000000000" charset="0"/>
              <a:buChar char="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Having an online presence caters to more people and increases the overall rating.</a:t>
            </a: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2984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ingdings" panose="05000000000000000000" charset="0"/>
              <a:buChar char="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New restaurants should offer at least table booking or online delivery—ideally both—to improve ratings.</a:t>
            </a: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285750" lvl="0" indent="-1841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9144000" cy="51428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"/>
          <p:cNvSpPr txBox="1"/>
          <p:nvPr/>
        </p:nvSpPr>
        <p:spPr>
          <a:xfrm>
            <a:off x="355950" y="1352625"/>
            <a:ext cx="8498400" cy="48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111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⮚"/>
            </a:pPr>
            <a:r>
              <a:rPr lang="en-GB" sz="1500">
                <a:solidFill>
                  <a:srgbClr val="000000"/>
                </a:solidFill>
              </a:rPr>
              <a:t>Focus on opening new restaurants in countries with strong potential and healthy competition.</a:t>
            </a:r>
            <a:endParaRPr sz="1500">
              <a:solidFill>
                <a:srgbClr val="000000"/>
              </a:solidFill>
            </a:endParaRPr>
          </a:p>
          <a:p>
            <a:pPr marL="342900" lvl="0" indent="-3111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⮚"/>
            </a:pPr>
            <a:r>
              <a:rPr lang="en-GB" sz="1500">
                <a:solidFill>
                  <a:srgbClr val="000000"/>
                </a:solidFill>
              </a:rPr>
              <a:t>Prioritise markets with fewer existing eateries for easier entry.</a:t>
            </a:r>
            <a:endParaRPr sz="1500">
              <a:solidFill>
                <a:srgbClr val="000000"/>
              </a:solidFill>
            </a:endParaRPr>
          </a:p>
          <a:p>
            <a:pPr marL="342900" lvl="0" indent="-3111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⮚"/>
            </a:pPr>
            <a:r>
              <a:rPr lang="en-GB" sz="1500">
                <a:solidFill>
                  <a:srgbClr val="000000"/>
                </a:solidFill>
              </a:rPr>
              <a:t>Use restaurant density analysis to spot growth opportunities and prime customer locations.</a:t>
            </a:r>
            <a:endParaRPr sz="1500">
              <a:solidFill>
                <a:srgbClr val="000000"/>
              </a:solidFill>
            </a:endParaRPr>
          </a:p>
          <a:p>
            <a:pPr marL="342900" lvl="0" indent="-3111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⮚"/>
            </a:pPr>
            <a:r>
              <a:rPr lang="en-GB" sz="1500">
                <a:solidFill>
                  <a:srgbClr val="000000"/>
                </a:solidFill>
              </a:rPr>
              <a:t>Identify major competitors to inform strategies for differentiating new venues.</a:t>
            </a:r>
            <a:endParaRPr sz="1500">
              <a:solidFill>
                <a:srgbClr val="000000"/>
              </a:solidFill>
            </a:endParaRPr>
          </a:p>
          <a:p>
            <a:pPr marL="342900" lvl="0" indent="-3111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⮚"/>
            </a:pPr>
            <a:r>
              <a:rPr lang="en-GB" sz="1500">
                <a:solidFill>
                  <a:srgbClr val="000000"/>
                </a:solidFill>
              </a:rPr>
              <a:t>Understand customer sentiment to guide improvements.</a:t>
            </a:r>
            <a:endParaRPr sz="1500">
              <a:solidFill>
                <a:srgbClr val="000000"/>
              </a:solidFill>
            </a:endParaRPr>
          </a:p>
          <a:p>
            <a:pPr marL="342900" lvl="0" indent="-3111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⮚"/>
            </a:pPr>
            <a:r>
              <a:rPr lang="en-GB" sz="1500">
                <a:solidFill>
                  <a:srgbClr val="000000"/>
                </a:solidFill>
              </a:rPr>
              <a:t>Provide quality food and smart pricing to attract and retain customers.</a:t>
            </a:r>
            <a:endParaRPr sz="1500">
              <a:solidFill>
                <a:srgbClr val="000000"/>
              </a:solidFill>
            </a:endParaRPr>
          </a:p>
          <a:p>
            <a:pPr marL="342900" lvl="0" indent="-3111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⮚"/>
            </a:pPr>
            <a:r>
              <a:rPr lang="en-GB" sz="1500">
                <a:solidFill>
                  <a:srgbClr val="000000"/>
                </a:solidFill>
              </a:rPr>
              <a:t>Implement online delivery and booking systems to boost satisfaction and ratings.</a:t>
            </a:r>
            <a:endParaRPr sz="15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900">
              <a:solidFill>
                <a:srgbClr val="000000"/>
              </a:solidFill>
            </a:endParaRPr>
          </a:p>
        </p:txBody>
      </p:sp>
      <p:sp>
        <p:nvSpPr>
          <p:cNvPr id="157" name="Google Shape;157;p15"/>
          <p:cNvSpPr txBox="1"/>
          <p:nvPr/>
        </p:nvSpPr>
        <p:spPr>
          <a:xfrm>
            <a:off x="1468300" y="578425"/>
            <a:ext cx="48855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u="sng">
                <a:solidFill>
                  <a:schemeClr val="accent1">
                    <a:lumMod val="50000"/>
                  </a:schemeClr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RECOMMENDATION</a:t>
            </a:r>
            <a:endParaRPr lang="en-GB" sz="2000" b="1" u="sng">
              <a:solidFill>
                <a:schemeClr val="accent1">
                  <a:lumMod val="50000"/>
                </a:schemeClr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/>
          <p:nvPr/>
        </p:nvSpPr>
        <p:spPr>
          <a:xfrm>
            <a:off x="382650" y="1076750"/>
            <a:ext cx="8382600" cy="36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 panose="02040502050405090303"/>
              <a:buChar char="⮚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An in-depth examination of restaurant data has shown a number of promising prospects for international growth. </a:t>
            </a: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342900" lvl="0" indent="-241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342900" lvl="0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 panose="02040502050405090303"/>
              <a:buChar char="⮚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We can strategically place ourselves in markets with less competition by concentrating on nations with high average ratings and smaller restaurant densities. </a:t>
            </a: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342900" lvl="0" indent="-241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342900" lvl="0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 panose="02040502050405090303"/>
              <a:buChar char="⮚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North Indian, Chinese, Fast Food, Café, Bakery, Desserts, Street Food are the top cuisines available in restaurants across all countries.</a:t>
            </a: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342900" lvl="0" indent="-241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342900" lvl="0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 panose="02040502050405090303"/>
              <a:buChar char="⮚"/>
            </a:pPr>
            <a:r>
              <a:rPr lang="en-GB">
                <a:solidFill>
                  <a:schemeClr val="dk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Given their high levels of consumer satisfaction, targeting cities in the Sri Lanka and Indonesia has great promise. </a:t>
            </a:r>
            <a:endParaRPr>
              <a:solidFill>
                <a:schemeClr val="dk1"/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</p:txBody>
      </p:sp>
      <p:sp>
        <p:nvSpPr>
          <p:cNvPr id="163" name="Google Shape;163;p16"/>
          <p:cNvSpPr txBox="1"/>
          <p:nvPr/>
        </p:nvSpPr>
        <p:spPr>
          <a:xfrm>
            <a:off x="2660750" y="418250"/>
            <a:ext cx="33903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u="sng">
                <a:solidFill>
                  <a:schemeClr val="accent1">
                    <a:lumMod val="50000"/>
                  </a:schemeClr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rPr>
              <a:t>CONCLUSION</a:t>
            </a:r>
            <a:endParaRPr lang="en-GB" sz="2000" b="1" u="sng">
              <a:solidFill>
                <a:schemeClr val="accent1">
                  <a:lumMod val="50000"/>
                </a:schemeClr>
              </a:solidFill>
              <a:latin typeface="Georgia" panose="02040502050405090303"/>
              <a:ea typeface="Georgia" panose="02040502050405090303"/>
              <a:cs typeface="Georgia" panose="02040502050405090303"/>
              <a:sym typeface="Georgia" panose="02040502050405090303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528750" y="857250"/>
            <a:ext cx="6086475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newto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6055</Words>
  <Application>WPS Sheets</Application>
  <PresentationFormat/>
  <Paragraphs>162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8" baseType="lpstr">
      <vt:lpstr>Arial</vt:lpstr>
      <vt:lpstr>SimSun</vt:lpstr>
      <vt:lpstr>Wingdings</vt:lpstr>
      <vt:lpstr>Arial</vt:lpstr>
      <vt:lpstr>Lato</vt:lpstr>
      <vt:lpstr>Georgia</vt:lpstr>
      <vt:lpstr>Georgia</vt:lpstr>
      <vt:lpstr>Wingdings</vt:lpstr>
      <vt:lpstr>Noto Sans Symbols</vt:lpstr>
      <vt:lpstr>Thonburi</vt:lpstr>
      <vt:lpstr>Microsoft YaHei</vt:lpstr>
      <vt:lpstr>汉仪旗黑</vt:lpstr>
      <vt:lpstr>Arial Unicode MS</vt:lpstr>
      <vt:lpstr>Lato</vt:lpstr>
      <vt:lpstr>Noto Sans Symbols</vt:lpstr>
      <vt:lpstr>宋体-简</vt:lpstr>
      <vt:lpstr>苹方-简</vt:lpstr>
      <vt:lpstr>Gill Sans</vt:lpstr>
      <vt:lpstr>Gill Sans UltraBold</vt:lpstr>
      <vt:lpstr>newton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sanikadhawale</cp:lastModifiedBy>
  <cp:revision>3</cp:revision>
  <dcterms:created xsi:type="dcterms:W3CDTF">2025-11-27T14:57:19Z</dcterms:created>
  <dcterms:modified xsi:type="dcterms:W3CDTF">2025-11-27T14:57:19Z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1646DABCEC1864CD493C2769A15F99E0_42</vt:lpwstr>
  </property>
  <property fmtid="{D5CDD505-2E9C-101B-9397-08002B2CF9AE}" pid="3" name="KSOProductBuildVer">
    <vt:lpwstr>1033-12.1.23152.23152</vt:lpwstr>
  </property>
</Properties>
</file>